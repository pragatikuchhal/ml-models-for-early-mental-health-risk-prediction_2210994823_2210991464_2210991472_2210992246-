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6" r:id="rId5"/>
    <p:sldId id="257" r:id="rId6"/>
    <p:sldId id="269" r:id="rId7"/>
    <p:sldId id="270" r:id="rId8"/>
    <p:sldId id="271" r:id="rId9"/>
    <p:sldId id="272" r:id="rId10"/>
    <p:sldId id="273" r:id="rId11"/>
    <p:sldId id="274" r:id="rId12"/>
    <p:sldId id="268" r:id="rId13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(Module-2) </a:t>
            </a: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32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Comparative Evaluation of Machine Learning Models for Early Mental Health Risk Prediction using Workplace Survey Data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Pragati </a:t>
            </a:r>
            <a:r>
              <a:rPr lang="en-US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Kuchhal</a:t>
            </a:r>
            <a:r>
              <a:rPr lang="en-US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 (2210994823)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Chirag Mahajan (2210991464)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Daksh Gupta (2210991472)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Sania (2210992246)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Mr. </a:t>
            </a:r>
            <a:r>
              <a:rPr lang="en-US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Shyam</a:t>
            </a:r>
            <a:r>
              <a:rPr lang="en-US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 Goyal</a:t>
            </a:r>
            <a:endParaRPr lang="en-US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 err="1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</a:t>
            </a:r>
            <a:r>
              <a:rPr lang="en-US" sz="20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 University, Punjab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 The Digital Shift in Mental Health </a:t>
            </a:r>
            <a:endParaRPr lang="en-US" sz="32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4168877" y="1109742"/>
            <a:ext cx="483385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Contextual Background</a:t>
            </a:r>
            <a:endParaRPr lang="en-US" sz="36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400"/>
              </a:spcBef>
            </a:pPr>
            <a:r>
              <a:rPr lang="en-US" sz="19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Mental health disorders are a leading cause of disability worldwide, yet there remains a significant “treatment gap” due to social stigma and lack of resources. </a:t>
            </a: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Role of Technology</a:t>
            </a:r>
            <a:endParaRPr lang="en-US" sz="36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400"/>
              </a:spcBef>
            </a:pPr>
            <a:r>
              <a:rPr lang="en-US" sz="19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screening is infrequent and reactive. Machine Learning offers a proactive transition, identifying hidden patterns in </a:t>
            </a:r>
            <a:r>
              <a:rPr lang="en-US" sz="1900" b="0" strike="noStrike" spc="-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behavioural</a:t>
            </a:r>
            <a:r>
              <a:rPr lang="en-US" sz="19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 before a crisis occurs.</a:t>
            </a: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Research Goal</a:t>
            </a:r>
            <a:endParaRPr lang="en-US" sz="36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400"/>
              </a:spcBef>
            </a:pPr>
            <a:r>
              <a:rPr lang="en-US" sz="19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evaluate and compare the efficacy of various ML algorithms in predicting mental health risks using workplace survey datasets.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25B1EA-9CA2-7432-3212-A70A8D97F8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273" y="1342147"/>
            <a:ext cx="4027604" cy="501437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49E5E-68CE-491C-BC6A-7A6BC2840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 The Detection Gap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A322E3-1D1F-F64D-4D84-AAC93CC4C249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1278764"/>
            <a:ext cx="5028840" cy="4552336"/>
          </a:xfrm>
        </p:spPr>
        <p:txBody>
          <a:bodyPr numCol="1">
            <a:normAutofit/>
          </a:bodyPr>
          <a:lstStyle/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Current Challenge</a:t>
            </a:r>
          </a:p>
          <a:p>
            <a:pPr marL="139700" lvl="0" indent="0" algn="just">
              <a:buClr>
                <a:srgbClr val="000000"/>
              </a:buClr>
              <a:buSzPts val="1400"/>
              <a:buNone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Most mental health support is reactive. Help is only triggered after performance drops or a crisis occurs. There is no automated framework for effectively </a:t>
            </a:r>
            <a:r>
              <a:rPr lang="en-US" sz="19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analysing</a:t>
            </a: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non-clinical workplace data.</a:t>
            </a: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Complexity</a:t>
            </a:r>
          </a:p>
          <a:p>
            <a:pPr marL="139700" lvl="0" indent="0" algn="just">
              <a:buClr>
                <a:srgbClr val="000000"/>
              </a:buClr>
              <a:buSzPts val="1400"/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Mental health is influenced by a complex web of factors(Work interference, family history, company benefits, and age). Manually identifying which individuals are at the highest risk is nearly impossible in large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organisations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lvl="0" indent="-317500" algn="just">
              <a:buClr>
                <a:srgbClr val="000000"/>
              </a:buClr>
              <a:buSzPts val="1400"/>
              <a:buChar char="●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Specific Challenge</a:t>
            </a:r>
          </a:p>
          <a:p>
            <a:pPr marL="139700" lvl="0" indent="0" algn="just">
              <a:buClr>
                <a:srgbClr val="000000"/>
              </a:buClr>
              <a:buSzPts val="1400"/>
              <a:buNone/>
            </a:pP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There is a lack of a </a:t>
            </a:r>
            <a:r>
              <a:rPr lang="en-US" sz="19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standardised</a:t>
            </a: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automated, and accurate framework to </a:t>
            </a:r>
            <a:r>
              <a:rPr lang="en-US" sz="19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analyse</a:t>
            </a:r>
            <a:r>
              <a:rPr lang="en-US" sz="19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employee survey data to predict who requires mental health intervention.</a:t>
            </a: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3E9965-066E-3688-EDF8-B255E2B2CC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761" y="1278764"/>
            <a:ext cx="3765755" cy="5064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337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DD994-F240-B581-6FC1-E49A1D688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477" y="0"/>
            <a:ext cx="5486040" cy="914040"/>
          </a:xfrm>
        </p:spPr>
        <p:txBody>
          <a:bodyPr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Design: The Machine Learning Pipeline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C6B1511-554A-0279-8649-28788A2C96D5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0" y="960652"/>
            <a:ext cx="9144000" cy="54784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2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Ingestion: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Input: Mental health survey dataset (1,259+ records).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 Set: 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Behavioural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demographic, and workplace attributes.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Engine: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Cleaning: Removing outliers (Age) and handling null values.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Encoding: Label Encoding for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categorical survey responses.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Scaling: Feature 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normalisation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via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Standard Scaler.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Output Layer: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Binary Classification: Risk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(Treatment Required) vs. No Risk.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Evaluation via Accuracy and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F1-Score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 Implementation: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Comparative analysis: LR, SVM, Random Forest, and Gradient Boosting.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80/20 Train-Test split with Cross-Validation.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AA79DC9-9847-3600-E0E8-1F3B9F7A151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07" t="1671"/>
          <a:stretch/>
        </p:blipFill>
        <p:spPr>
          <a:xfrm>
            <a:off x="3677265" y="3067666"/>
            <a:ext cx="5466735" cy="3628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733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6E99E-B4CA-6DFB-5E72-5822076F7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999" y="0"/>
            <a:ext cx="5486040" cy="914040"/>
          </a:xfrm>
        </p:spPr>
        <p:txBody>
          <a:bodyPr/>
          <a:lstStyle/>
          <a:p>
            <a:pPr algn="ctr"/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Insights &amp; Performance Metrics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F5A7BA-E44F-0AD8-48E0-5761D4B095E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3741" y="914040"/>
            <a:ext cx="5668298" cy="5319252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Distribution: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Interference: Identified as the primary indicator for treatment needs.</a:t>
            </a:r>
          </a:p>
          <a:p>
            <a:pPr marL="0" indent="0" algn="just"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Family History: Strong correlation observed between genetic factors and mental health risk.</a:t>
            </a:r>
          </a:p>
          <a:p>
            <a:pPr marL="0" indent="0" algn="just"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Care Options: Significant disparity in employee awareness regarding company-provided mental health benefits.</a:t>
            </a:r>
          </a:p>
          <a:p>
            <a:pPr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Comparative Model Strategy:</a:t>
            </a:r>
          </a:p>
          <a:p>
            <a:pPr marL="0" indent="0" algn="just"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Executing a performance face-off between Logistic Regression, SVM, Random Forest, and Gradient Boosting.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 Criteria (The Metrics):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Accuracy: Overall percentage of correct predictions.</a:t>
            </a:r>
          </a:p>
          <a:p>
            <a:pPr marL="0" indent="0" algn="just"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F1-Score: The harmonic mean of Precision and Recall (crucial for unbalanced survey data).</a:t>
            </a:r>
          </a:p>
          <a:p>
            <a:pPr marL="0" indent="0" algn="just"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Precision: Measuring the model's ability to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minimise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false positives and false negatives.</a:t>
            </a:r>
          </a:p>
          <a:p>
            <a:pPr algn="just"/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Funny cartoon illustration of a worried opossum squashed under a relaxed elephant with the quote &quot;Take it easy please&quot;. Perfect for stress humor, burnout memes, and mental overload jokes.">
            <a:extLst>
              <a:ext uri="{FF2B5EF4-FFF2-40B4-BE49-F238E27FC236}">
                <a16:creationId xmlns:a16="http://schemas.microsoft.com/office/drawing/2014/main" id="{3F79052D-B4A0-52CC-5145-EF1CD66900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641" t="3471" r="11900" b="8287"/>
          <a:stretch/>
        </p:blipFill>
        <p:spPr bwMode="auto">
          <a:xfrm>
            <a:off x="5987844" y="1347019"/>
            <a:ext cx="2939847" cy="4788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81803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0A089-EC09-7B4E-0E1B-372E561D3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561" y="0"/>
            <a:ext cx="5486040" cy="914040"/>
          </a:xfrm>
        </p:spPr>
        <p:txBody>
          <a:bodyPr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Comparison of ML Models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B12BF6-17AE-C6D2-2E59-D0E72581542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64" t="12223" r="2043" b="11370"/>
          <a:stretch/>
        </p:blipFill>
        <p:spPr>
          <a:xfrm>
            <a:off x="201561" y="1061884"/>
            <a:ext cx="8740877" cy="2445310"/>
          </a:xfrm>
          <a:prstGeom prst="rect">
            <a:avLst/>
          </a:prstGeom>
        </p:spPr>
      </p:pic>
      <p:sp>
        <p:nvSpPr>
          <p:cNvPr id="5" name="AutoShape 4">
            <a:extLst>
              <a:ext uri="{FF2B5EF4-FFF2-40B4-BE49-F238E27FC236}">
                <a16:creationId xmlns:a16="http://schemas.microsoft.com/office/drawing/2014/main" id="{DF74C9EA-59AD-BF9A-1428-19161110D730}"/>
              </a:ext>
            </a:extLst>
          </p:cNvPr>
          <p:cNvSpPr>
            <a:spLocks noGrp="1" noChangeAspect="1" noChangeArrowheads="1"/>
          </p:cNvSpPr>
          <p:nvPr>
            <p:ph type="body"/>
          </p:nvPr>
        </p:nvSpPr>
        <p:spPr bwMode="auto">
          <a:xfrm>
            <a:off x="201561" y="3514104"/>
            <a:ext cx="8229240" cy="2445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Winner: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Gradient Boosting achieved the highest accuracy and F1-score, proving that boosting weak learners is highly effective for non-linear survey data.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Ensemble Superiority: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Both Gradient Boosting and Random Forest significantly outperformed traditional models like LR and SVM.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Robustness: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high F1-Score of the GB model indicates a strong balance between identifying those who need treatment and avoiding false positives.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3.5% lead of GB over LR highlights that mental health risk factors do not have a simple linear relationship; they require the complex branching logic of tree-based models.</a:t>
            </a:r>
          </a:p>
          <a:p>
            <a:pPr marL="0" indent="0" algn="just">
              <a:buNone/>
            </a:pPr>
            <a:endParaRPr lang="en-IN" sz="1900" dirty="0"/>
          </a:p>
        </p:txBody>
      </p:sp>
    </p:spTree>
    <p:extLst>
      <p:ext uri="{BB962C8B-B14F-4D97-AF65-F5344CB8AC3E}">
        <p14:creationId xmlns:p14="http://schemas.microsoft.com/office/powerpoint/2010/main" val="22068446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93A50-679B-31A3-FA12-E76930A80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980" y="0"/>
            <a:ext cx="5486040" cy="914040"/>
          </a:xfrm>
        </p:spPr>
        <p:txBody>
          <a:bodyPr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Towards Proactive Mental Health Management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B9CC3EB-0A91-601D-6DF0-E23D91CA0102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176979" y="1775993"/>
            <a:ext cx="5053781" cy="38933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Efficacy: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Proves non-clinical survey data is a viable, high-accuracy predictor for mental health risks.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Ensemble Superiority: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9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Gradient Boosting outperformed traditional models by successfully capturing complex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non-linear 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behavioural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patterns.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Primary Drivers: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Workplace factors like </a:t>
            </a:r>
            <a:r>
              <a:rPr kumimoji="0" lang="en-US" altLang="en-US" sz="19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 Interference and Care Awareness are stronger predictors than age or gender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Operational Shift: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Enables a transition from </a:t>
            </a:r>
            <a:r>
              <a:rPr kumimoji="0" lang="en-US" altLang="en-US" sz="19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Reactive crisis management to Proactive early intervention strategies.</a:t>
            </a:r>
          </a:p>
        </p:txBody>
      </p:sp>
      <p:pic>
        <p:nvPicPr>
          <p:cNvPr id="4100" name="Picture 4" descr="Healing: Our Path From Mental Illness to Mental Health - Journal of the  American Academy of Child &amp; Adolescent Psychiatry">
            <a:extLst>
              <a:ext uri="{FF2B5EF4-FFF2-40B4-BE49-F238E27FC236}">
                <a16:creationId xmlns:a16="http://schemas.microsoft.com/office/drawing/2014/main" id="{08AFC5BF-F651-419E-597D-874311D436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9419" y="1366684"/>
            <a:ext cx="3411793" cy="4849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1657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B5611-ABFA-3D43-1DB9-20852F0D4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 &amp; Research Horizons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A2F72-C40C-9695-67C7-C2B823DAFCD8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457380" y="2880720"/>
            <a:ext cx="8229240" cy="3977280"/>
          </a:xfrm>
        </p:spPr>
        <p:txBody>
          <a:bodyPr/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Biometrics</a:t>
            </a:r>
          </a:p>
          <a:p>
            <a:pPr marL="0" indent="0" algn="just"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Transitioning from static survey snapshots to continuous monitoring via IoT and wearable sensors for dynamic, real-time stress detection.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 (XAI)</a:t>
            </a:r>
          </a:p>
          <a:p>
            <a:pPr marL="0" indent="0" algn="just"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Implementing SHAP and LIME frameworks to provide human-interpretable reasons behind predictions, ensuring trust and clinical transparency.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Dataset Expansion</a:t>
            </a:r>
          </a:p>
          <a:p>
            <a:pPr marL="0" indent="0" algn="just"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Scaling the architecture across diverse industries (Healthcare, Manufacturing) and cultural demographics to validate model robustness and bias-free screening.</a:t>
            </a:r>
          </a:p>
          <a:p>
            <a:pPr algn="just"/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5CEB03-BE37-9AA6-94CA-802CB2EF12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380" y="908994"/>
            <a:ext cx="2340000" cy="15509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5AFCD4-67BB-A2CC-E4AD-9EF820F301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8148" y="922760"/>
            <a:ext cx="2340000" cy="156453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32F79A7-C4CD-7390-92CB-B0E75CA824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8916" y="908994"/>
            <a:ext cx="2340000" cy="157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1353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9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36128</TotalTime>
  <Words>766</Words>
  <Application>Microsoft Office PowerPoint</Application>
  <PresentationFormat>On-screen Show (4:3)</PresentationFormat>
  <Paragraphs>91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Problem Statement: The Detection Gap </vt:lpstr>
      <vt:lpstr>System Design: The Machine Learning Pipeline</vt:lpstr>
      <vt:lpstr>Data Insights &amp; Performance Metrics</vt:lpstr>
      <vt:lpstr>Performance Comparison of ML Models</vt:lpstr>
      <vt:lpstr>Conclusion: Towards Proactive Mental Health Management</vt:lpstr>
      <vt:lpstr>Future Scope &amp; Research Horizons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ANJU KUCHHAL</cp:lastModifiedBy>
  <cp:revision>2303</cp:revision>
  <dcterms:created xsi:type="dcterms:W3CDTF">2010-04-09T07:36:15Z</dcterms:created>
  <dcterms:modified xsi:type="dcterms:W3CDTF">2026-04-29T16:42:32Z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